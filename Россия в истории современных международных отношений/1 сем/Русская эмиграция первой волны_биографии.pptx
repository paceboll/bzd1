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4"/>
    <p:restoredTop sz="94643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58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28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27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573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7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73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15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81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918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698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31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42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8" r:id="rId6"/>
    <p:sldLayoutId id="2147483753" r:id="rId7"/>
    <p:sldLayoutId id="2147483754" r:id="rId8"/>
    <p:sldLayoutId id="2147483755" r:id="rId9"/>
    <p:sldLayoutId id="2147483757" r:id="rId10"/>
    <p:sldLayoutId id="214748375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scowbooks.ru/book/1065906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75353B-ED6B-4E30-5317-31CFE41673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r>
              <a:rPr lang="ru-RU" sz="4800"/>
              <a:t>Русская эмиграция первой волны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356080-8188-3029-230F-AD6A051BF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1706533"/>
          </a:xfrm>
        </p:spPr>
        <p:txBody>
          <a:bodyPr anchor="t">
            <a:normAutofit/>
          </a:bodyPr>
          <a:lstStyle/>
          <a:p>
            <a:r>
              <a:rPr lang="ru-RU" dirty="0"/>
              <a:t>Агафонов Артём </a:t>
            </a:r>
          </a:p>
          <a:p>
            <a:r>
              <a:rPr lang="ru-RU" dirty="0"/>
              <a:t>группа </a:t>
            </a:r>
            <a:r>
              <a:rPr lang="en-US" dirty="0"/>
              <a:t>N3149 </a:t>
            </a:r>
            <a:r>
              <a:rPr lang="ru-RU" dirty="0"/>
              <a:t>ИСУ 502356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EAB359-F976-601B-E26E-05EAD38A02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10" b="18218"/>
          <a:stretch>
            <a:fillRect/>
          </a:stretch>
        </p:blipFill>
        <p:spPr>
          <a:xfrm>
            <a:off x="4119154" y="965741"/>
            <a:ext cx="7551931" cy="424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64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60E13A-3AD3-1018-069D-AD466BC76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Иван Алексеевич Бунин</a:t>
            </a:r>
            <a:br>
              <a:rPr lang="ru-RU" sz="3200" dirty="0"/>
            </a:br>
            <a:r>
              <a:rPr lang="ru-RU" sz="3200" dirty="0"/>
              <a:t>Профессия: писатель, поэт, лауреат Нобелевской премии</a:t>
            </a:r>
            <a:br>
              <a:rPr lang="ru-RU" sz="3200" dirty="0"/>
            </a:br>
            <a:endParaRPr lang="ru-RU" sz="3100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8283E7-6BBF-4F25-0DEA-3DD03CA75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6364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/>
              <a:t>Иван Бунин (1870–1953) - один из крупнейших русских писателей начала </a:t>
            </a:r>
            <a:r>
              <a:rPr lang="en" sz="1600" dirty="0"/>
              <a:t>XX </a:t>
            </a:r>
            <a:r>
              <a:rPr lang="ru-RU" sz="1600" dirty="0"/>
              <a:t>века, мастер короткого рассказа и прозаической формы. Родился в дворянской семье, учился в частных гимназиях и самостоятельно развивал литературные навыки. В России стал известен произведениями «Деревня», «Темные аллеи», его стиль отличался точной наблюдательностью и изяществом языка.</a:t>
            </a:r>
            <a:br>
              <a:rPr lang="ru-RU" sz="1600" dirty="0"/>
            </a:br>
            <a:r>
              <a:rPr lang="ru-RU" sz="1600" dirty="0"/>
              <a:t>После революции 1917 года отказался принимать советскую власть, поддерживал идеи Белого движения и участвовал в эмигрантских литературных кругах. В 1920 году покинул Россию, поселился во Франции, где продолжал писать, публиковать книги и поддерживать русскую культуру среди эмигрантов. В 1933 году удостоен Нобелевской премии по литературе.</a:t>
            </a:r>
            <a:endParaRPr lang="ru-RU" sz="17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700" b="1" dirty="0"/>
              <a:t>Место захоронения</a:t>
            </a:r>
            <a:r>
              <a:rPr lang="en-US" sz="1700" dirty="0"/>
              <a:t>: </a:t>
            </a:r>
            <a:r>
              <a:rPr lang="ru-RU" sz="1700" dirty="0"/>
              <a:t>Франция, кладбище Сент-Женевьев-де-</a:t>
            </a:r>
            <a:r>
              <a:rPr lang="ru-RU" sz="1700" dirty="0" err="1"/>
              <a:t>Буа</a:t>
            </a:r>
            <a:r>
              <a:rPr lang="ru-RU" sz="17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700" dirty="0"/>
          </a:p>
          <a:p>
            <a:pPr>
              <a:lnSpc>
                <a:spcPct val="100000"/>
              </a:lnSpc>
            </a:pPr>
            <a:endParaRPr lang="ru-RU" sz="1700" dirty="0"/>
          </a:p>
        </p:txBody>
      </p:sp>
      <p:pic>
        <p:nvPicPr>
          <p:cNvPr id="1028" name="Picture 4" descr="Бунин, Иван Алексеевич — Википедия">
            <a:extLst>
              <a:ext uri="{FF2B5EF4-FFF2-40B4-BE49-F238E27FC236}">
                <a16:creationId xmlns:a16="http://schemas.microsoft.com/office/drawing/2014/main" id="{3D0E1307-285E-FA86-9BF8-FEA8A2C43F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672" y="978408"/>
            <a:ext cx="4066883" cy="5417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191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2" name="Rectangle 2061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CD05D5-A730-7A30-17DA-8001315F5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700" dirty="0"/>
              <a:t>Причины эмиграции и проживание</a:t>
            </a:r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926944-434D-8BF0-5E4C-3149433DE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600" b="1" dirty="0"/>
              <a:t>Причины эмиграции</a:t>
            </a:r>
            <a:r>
              <a:rPr lang="en-US" sz="2600" b="1" dirty="0"/>
              <a:t>:</a:t>
            </a:r>
            <a:endParaRPr lang="ru-RU" sz="2600" b="1" dirty="0"/>
          </a:p>
          <a:p>
            <a:pPr marL="0" indent="0">
              <a:buNone/>
            </a:pPr>
            <a:r>
              <a:rPr lang="ru-RU" sz="2800" dirty="0"/>
              <a:t>Неприятие советской власти</a:t>
            </a:r>
          </a:p>
          <a:p>
            <a:pPr marL="0" indent="0">
              <a:buNone/>
            </a:pPr>
            <a:r>
              <a:rPr lang="ru-RU" sz="2800" dirty="0"/>
              <a:t>Поддержка Белого движения</a:t>
            </a:r>
          </a:p>
          <a:p>
            <a:pPr marL="0" indent="0">
              <a:buNone/>
            </a:pPr>
            <a:r>
              <a:rPr lang="ru-RU" sz="2800" dirty="0"/>
              <a:t>Опасность для дворян и интеллигенции после революции</a:t>
            </a:r>
          </a:p>
          <a:p>
            <a:pPr marL="0" indent="0">
              <a:buNone/>
            </a:pPr>
            <a:r>
              <a:rPr lang="ru-RU" sz="2600" b="1" dirty="0"/>
              <a:t>В каких странах проживал</a:t>
            </a:r>
            <a:r>
              <a:rPr lang="en-US" sz="2600" b="1" dirty="0"/>
              <a:t>:</a:t>
            </a:r>
            <a:endParaRPr lang="ru-RU" sz="2600" b="1" dirty="0"/>
          </a:p>
          <a:p>
            <a:pPr marL="0" indent="0">
              <a:buNone/>
            </a:pPr>
            <a:r>
              <a:rPr lang="ru-RU" sz="2600" dirty="0"/>
              <a:t>Россия</a:t>
            </a:r>
          </a:p>
          <a:p>
            <a:pPr marL="0" indent="0">
              <a:buNone/>
            </a:pPr>
            <a:r>
              <a:rPr lang="ru-RU" sz="2600" dirty="0"/>
              <a:t>Франция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2052" name="Picture 4" descr="Книга &quot;Бунин.Эмиграция. Творчество. К 150-летию со дня рождения писателя.  Выставка в музее Русского зарубежья&quot; - купить книгу в интернет-магазине  «Москва» ISBN: 978-5-98854-077-9, 1065906">
            <a:extLst>
              <a:ext uri="{FF2B5EF4-FFF2-40B4-BE49-F238E27FC236}">
                <a16:creationId xmlns:a16="http://schemas.microsoft.com/office/drawing/2014/main" id="{610F7E72-FBDD-0A90-F0E7-413C6AAC7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117" y="508090"/>
            <a:ext cx="5453187" cy="5550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15F6DF-F7A5-23B3-34E2-CCB02C12C6D6}"/>
              </a:ext>
            </a:extLst>
          </p:cNvPr>
          <p:cNvSpPr txBox="1"/>
          <p:nvPr/>
        </p:nvSpPr>
        <p:spPr>
          <a:xfrm>
            <a:off x="5871118" y="6179599"/>
            <a:ext cx="6099716" cy="557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ru-RU" b="0" i="0" u="none" strike="noStrike" dirty="0">
                <a:solidFill>
                  <a:srgbClr val="E8EAED"/>
                </a:solidFill>
                <a:effectLst/>
                <a:latin typeface="Google Sans"/>
                <a:hlinkClick r:id="rId3"/>
              </a:rPr>
              <a:t>Книга "Бунин.Эмиграция. Творчество. К 150-летию со дня рождения писателя</a:t>
            </a:r>
            <a:r>
              <a:rPr lang="en-US" b="0" i="0" u="none" strike="noStrike" dirty="0">
                <a:solidFill>
                  <a:srgbClr val="E8EAED"/>
                </a:solidFill>
                <a:effectLst/>
                <a:latin typeface="Google Sans"/>
                <a:hlinkClick r:id="rId3"/>
              </a:rPr>
              <a:t>.</a:t>
            </a:r>
            <a:endParaRPr lang="ru-RU" b="0" i="0" u="none" strike="noStrike" dirty="0">
              <a:solidFill>
                <a:srgbClr val="E8EAED"/>
              </a:solidFill>
              <a:effectLst/>
              <a:latin typeface="Google Sans"/>
              <a:hlinkClick r:id="rId3"/>
            </a:endParaRPr>
          </a:p>
        </p:txBody>
      </p:sp>
    </p:spTree>
    <p:extLst>
      <p:ext uri="{BB962C8B-B14F-4D97-AF65-F5344CB8AC3E}">
        <p14:creationId xmlns:p14="http://schemas.microsoft.com/office/powerpoint/2010/main" val="298542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85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EE3AB-6D30-D48F-354D-EA1A0344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53796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100"/>
              <a:t>Фёдор Иванович Шаляпин</a:t>
            </a:r>
            <a:br>
              <a:rPr lang="ru-RU" sz="3100"/>
            </a:br>
            <a:r>
              <a:rPr lang="ru-RU" sz="3100"/>
              <a:t>Профессия: оперный певец (бас)</a:t>
            </a:r>
            <a:br>
              <a:rPr lang="ru-RU" sz="3100"/>
            </a:br>
            <a:endParaRPr lang="ru-RU" sz="3100"/>
          </a:p>
        </p:txBody>
      </p:sp>
      <p:sp>
        <p:nvSpPr>
          <p:cNvPr id="3088" name="Freeform: Shape 3087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FB7F1F-8025-0DC3-916B-4C23EFA64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537960" cy="376732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900" dirty="0"/>
              <a:t>Фёдор Шаляпин (1873–1938) </a:t>
            </a:r>
            <a:r>
              <a:rPr lang="en-US" sz="1900" dirty="0"/>
              <a:t>- </a:t>
            </a:r>
            <a:r>
              <a:rPr lang="ru-RU" sz="1900" dirty="0"/>
              <a:t>выдающийся русский оперный певец, один из самых знаменитых басов в мировой истории. Начав путь в Казани, он стал звездой Мариинского театра, а затем — мировых сцен, включая «Ла Скала» и «Метрополитен-опера». Его исполнение партий Бориса Годунова, Мефистофеля и Дон Кихота входило в золотой фонд музыкального театра.</a:t>
            </a:r>
            <a:br>
              <a:rPr lang="en-US" sz="1900" dirty="0"/>
            </a:br>
            <a:r>
              <a:rPr lang="ru-RU" sz="1900" dirty="0"/>
              <a:t>После Октябрьской революции отношения с советской властью были напряжёнными: у него отобрали жильё, он подвергался давлению. В 1922 году, выехав на гастроли, Шаляпин решил не возвращаться в СССР. В последующие годы жил во Франции и США, выступая до конца жизни. Умер в Париже в 1938 году.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900" b="1" dirty="0"/>
              <a:t>Место захоронения (с учётом перезахоронения)</a:t>
            </a:r>
            <a:r>
              <a:rPr lang="en-US" sz="1900" b="1" dirty="0"/>
              <a:t>:</a:t>
            </a:r>
            <a:endParaRPr lang="ru-RU" sz="1900" b="1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1900" b="1" dirty="0"/>
              <a:t>1938:</a:t>
            </a:r>
            <a:r>
              <a:rPr lang="ru-RU" sz="1900" dirty="0"/>
              <a:t> похоронен на кладбище </a:t>
            </a:r>
            <a:r>
              <a:rPr lang="ru-RU" sz="1900" dirty="0" err="1"/>
              <a:t>Батиньоль</a:t>
            </a:r>
            <a:r>
              <a:rPr lang="ru-RU" sz="1900" dirty="0"/>
              <a:t>, Париж, Франция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900" b="1" dirty="0"/>
              <a:t>1984:</a:t>
            </a:r>
            <a:r>
              <a:rPr lang="ru-RU" sz="1900" dirty="0"/>
              <a:t> прах перезахоронен в России, на Новодевичьем кладбище в Москве (по просьбе семьи)</a:t>
            </a:r>
          </a:p>
          <a:p>
            <a:pPr marL="0" indent="0">
              <a:lnSpc>
                <a:spcPct val="100000"/>
              </a:lnSpc>
              <a:buNone/>
            </a:pPr>
            <a:endParaRPr lang="ru-RU" sz="1500" dirty="0"/>
          </a:p>
          <a:p>
            <a:pPr marL="0" indent="0">
              <a:lnSpc>
                <a:spcPct val="100000"/>
              </a:lnSpc>
              <a:buNone/>
            </a:pPr>
            <a:endParaRPr lang="ru-RU" sz="1500" dirty="0"/>
          </a:p>
          <a:p>
            <a:pPr marL="0" indent="0">
              <a:lnSpc>
                <a:spcPct val="100000"/>
              </a:lnSpc>
              <a:buNone/>
            </a:pPr>
            <a:endParaRPr lang="ru-RU" sz="1500" dirty="0"/>
          </a:p>
        </p:txBody>
      </p:sp>
      <p:pic>
        <p:nvPicPr>
          <p:cNvPr id="3074" name="Picture 2" descr="Шаляпин, Фёдор Иванович — Википедия">
            <a:extLst>
              <a:ext uri="{FF2B5EF4-FFF2-40B4-BE49-F238E27FC236}">
                <a16:creationId xmlns:a16="http://schemas.microsoft.com/office/drawing/2014/main" id="{59EB9F80-8F0D-7CE3-B0E3-02A2EB2DD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" b="-4"/>
          <a:stretch>
            <a:fillRect/>
          </a:stretch>
        </p:blipFill>
        <p:spPr bwMode="auto">
          <a:xfrm>
            <a:off x="7659149" y="976160"/>
            <a:ext cx="4011643" cy="537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8093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3D8DCD-1FB9-8764-16E4-B398A9AD8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3700" dirty="0"/>
              <a:t>Причины эмиграции и проживание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367128-17C7-40C1-18BA-EEA8EEABA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b="1" dirty="0"/>
              <a:t>Причины эмиграции</a:t>
            </a:r>
            <a:r>
              <a:rPr lang="en-US" b="1" dirty="0"/>
              <a:t>:</a:t>
            </a:r>
            <a:endParaRPr lang="ru-RU" b="1" dirty="0"/>
          </a:p>
          <a:p>
            <a:pPr marL="0" indent="0">
              <a:lnSpc>
                <a:spcPct val="100000"/>
              </a:lnSpc>
              <a:buNone/>
            </a:pPr>
            <a:r>
              <a:rPr lang="ru-RU" dirty="0"/>
              <a:t>Конфликт с советской властью, лишение гражданства.</a:t>
            </a:r>
            <a:br>
              <a:rPr lang="ru-RU" dirty="0"/>
            </a:br>
            <a:r>
              <a:rPr lang="ru-RU" dirty="0"/>
              <a:t>Невозможность свободно работать в СССР.</a:t>
            </a:r>
            <a:br>
              <a:rPr lang="ru-RU" dirty="0"/>
            </a:br>
            <a:r>
              <a:rPr lang="ru-RU" dirty="0"/>
              <a:t>Стремление сохранить творческую свободу.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b="1" dirty="0"/>
              <a:t>В каких странах проживал</a:t>
            </a:r>
            <a:r>
              <a:rPr lang="en-US" b="1" dirty="0"/>
              <a:t>:</a:t>
            </a:r>
            <a:endParaRPr lang="ru-RU" b="1" dirty="0"/>
          </a:p>
          <a:p>
            <a:pPr marL="0" indent="0">
              <a:lnSpc>
                <a:spcPct val="100000"/>
              </a:lnSpc>
              <a:buNone/>
            </a:pPr>
            <a:r>
              <a:rPr lang="ru-RU" dirty="0"/>
              <a:t>Россия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/>
              <a:t>Германия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/>
              <a:t>Франция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dirty="0"/>
              <a:t>США</a:t>
            </a:r>
          </a:p>
          <a:p>
            <a:pPr>
              <a:lnSpc>
                <a:spcPct val="100000"/>
              </a:lnSpc>
            </a:pPr>
            <a:endParaRPr lang="ru-RU" dirty="0"/>
          </a:p>
        </p:txBody>
      </p:sp>
      <p:pic>
        <p:nvPicPr>
          <p:cNvPr id="4" name="Рисунок 3" descr="Изображение выглядит как одежда, человек, Человеческое лицо, обув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DA1B4B-82DB-B572-F3E6-BD2CEA0D78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13470"/>
          <a:stretch>
            <a:fillRect/>
          </a:stretch>
        </p:blipFill>
        <p:spPr>
          <a:xfrm>
            <a:off x="5958018" y="508090"/>
            <a:ext cx="5709726" cy="58469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0C77C2-254D-8141-ADEE-718E823B6826}"/>
              </a:ext>
            </a:extLst>
          </p:cNvPr>
          <p:cNvSpPr txBox="1"/>
          <p:nvPr/>
        </p:nvSpPr>
        <p:spPr>
          <a:xfrm>
            <a:off x="5958018" y="6355079"/>
            <a:ext cx="5709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Шаляпин в кругу семьи</a:t>
            </a:r>
          </a:p>
        </p:txBody>
      </p:sp>
    </p:spTree>
    <p:extLst>
      <p:ext uri="{BB962C8B-B14F-4D97-AF65-F5344CB8AC3E}">
        <p14:creationId xmlns:p14="http://schemas.microsoft.com/office/powerpoint/2010/main" val="2353769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555962-D023-FA99-3757-BE61CD5B0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53796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800"/>
              <a:t>Дмитрий Владимирович Философов</a:t>
            </a:r>
            <a:br>
              <a:rPr lang="ru-RU" sz="2800"/>
            </a:br>
            <a:r>
              <a:rPr lang="ru-RU" sz="2800"/>
              <a:t>Профессия: публицист, литературный критик, общественный деятель</a:t>
            </a:r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5CEA40-39A4-9EAE-C79E-533D61200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53796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Дмитрий Философов (1872–1940) - русский публицист и критик Серебряного века, участник религиозно-философских кружков, сотрудничал с Мережковским и Гиппиус. В России активно писал статьи и рецензии, участвовал в культурных проектах.</a:t>
            </a:r>
            <a:br>
              <a:rPr lang="ru-RU" dirty="0"/>
            </a:br>
            <a:r>
              <a:rPr lang="ru-RU" dirty="0"/>
              <a:t>После революции эмигрировал в Польшу, где стал лидером русской интеллигенции, организовывал культурные общества и редактировал эмигрантские журналы. Его деятельность позволила сохранить русскую литературу и философию в эмиграции.</a:t>
            </a:r>
          </a:p>
          <a:p>
            <a:pPr marL="0" indent="0">
              <a:buNone/>
            </a:pPr>
            <a:r>
              <a:rPr lang="ru-RU" b="1" dirty="0"/>
              <a:t>Место захоронения</a:t>
            </a:r>
            <a:r>
              <a:rPr lang="en-US" dirty="0"/>
              <a:t>: </a:t>
            </a:r>
            <a:r>
              <a:rPr lang="ru-RU" dirty="0"/>
              <a:t>Православное кладбище на Воле, Варшава, Польша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pic>
        <p:nvPicPr>
          <p:cNvPr id="4098" name="Picture 2" descr="Философов, Дмитрий Владимирович — Википедия">
            <a:extLst>
              <a:ext uri="{FF2B5EF4-FFF2-40B4-BE49-F238E27FC236}">
                <a16:creationId xmlns:a16="http://schemas.microsoft.com/office/drawing/2014/main" id="{78A32410-7E95-1C28-1C30-6439C32E7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1" r="6474" b="1"/>
          <a:stretch>
            <a:fillRect/>
          </a:stretch>
        </p:blipFill>
        <p:spPr bwMode="auto">
          <a:xfrm>
            <a:off x="7659149" y="976160"/>
            <a:ext cx="4011643" cy="537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5381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C3F9F-9BF9-CEE7-4206-BAA861394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537960" cy="1463040"/>
          </a:xfrm>
        </p:spPr>
        <p:txBody>
          <a:bodyPr>
            <a:normAutofit/>
          </a:bodyPr>
          <a:lstStyle/>
          <a:p>
            <a:r>
              <a:rPr lang="ru-RU" dirty="0"/>
              <a:t>Причины эмиграции и проживание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64A088-BD5C-C2F9-863D-60EA68773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53796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Причины эмиграции</a:t>
            </a:r>
            <a:r>
              <a:rPr lang="en-US" b="1" dirty="0"/>
              <a:t>: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Неприятие советской власти</a:t>
            </a:r>
          </a:p>
          <a:p>
            <a:pPr marL="0" indent="0">
              <a:buNone/>
            </a:pPr>
            <a:r>
              <a:rPr lang="ru-RU" dirty="0"/>
              <a:t>Опасность репрессий для интеллигенции</a:t>
            </a:r>
          </a:p>
          <a:p>
            <a:pPr marL="0" indent="0">
              <a:buNone/>
            </a:pPr>
            <a:r>
              <a:rPr lang="ru-RU" dirty="0"/>
              <a:t>Продолжение культурной и публицистической работы за границей</a:t>
            </a:r>
          </a:p>
          <a:p>
            <a:pPr marL="0" indent="0">
              <a:buNone/>
            </a:pPr>
            <a:r>
              <a:rPr lang="ru-RU" b="1" dirty="0"/>
              <a:t>Страны проживания</a:t>
            </a:r>
            <a:r>
              <a:rPr lang="en-US" b="1" dirty="0"/>
              <a:t>:</a:t>
            </a:r>
            <a:endParaRPr lang="ru-RU" b="1" dirty="0"/>
          </a:p>
          <a:p>
            <a:pPr marL="0" indent="0">
              <a:buNone/>
            </a:pPr>
            <a:r>
              <a:rPr lang="ru-RU" dirty="0"/>
              <a:t>Россия 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Польша</a:t>
            </a:r>
          </a:p>
          <a:p>
            <a:endParaRPr lang="ru-RU" dirty="0"/>
          </a:p>
        </p:txBody>
      </p:sp>
      <p:pic>
        <p:nvPicPr>
          <p:cNvPr id="4" name="Рисунок 3" descr="Изображение выглядит как текст, рисунок, зарисовка, чернил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576D69-D719-27C6-ECEC-B1464E1EA9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" r="16363" b="-4"/>
          <a:stretch>
            <a:fillRect/>
          </a:stretch>
        </p:blipFill>
        <p:spPr>
          <a:xfrm>
            <a:off x="7659149" y="976160"/>
            <a:ext cx="4011643" cy="53717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97E6EC-7EE4-F105-9642-B6F5F3CACF67}"/>
              </a:ext>
            </a:extLst>
          </p:cNvPr>
          <p:cNvSpPr txBox="1"/>
          <p:nvPr/>
        </p:nvSpPr>
        <p:spPr>
          <a:xfrm>
            <a:off x="7659149" y="6345936"/>
            <a:ext cx="401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книги </a:t>
            </a:r>
            <a:r>
              <a:rPr lang="ru-RU" dirty="0" err="1"/>
              <a:t>Философова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2270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16A391-EAEA-B517-9DD5-616757A6E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537960" cy="1463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100"/>
              <a:t>Евгений Васильевич Аничков</a:t>
            </a:r>
            <a:br>
              <a:rPr lang="ru-RU" sz="2100"/>
            </a:br>
            <a:r>
              <a:rPr lang="ru-RU" sz="2100"/>
              <a:t>Профессия: литературовед, фольклорист, педагог</a:t>
            </a:r>
            <a:br>
              <a:rPr lang="ru-RU" sz="2100"/>
            </a:br>
            <a:br>
              <a:rPr lang="ru-RU" sz="2100"/>
            </a:br>
            <a:endParaRPr lang="ru-RU" sz="2100"/>
          </a:p>
        </p:txBody>
      </p:sp>
      <p:sp>
        <p:nvSpPr>
          <p:cNvPr id="5129" name="Freeform: Shape 5128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240298-D8D8-D9D2-B0CC-2D858519C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53796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Евгений Аничков (1866–1937) - русский литературовед, исследователь фольклора и преподаватель. Родился в Новгородской губернии, учился в Санкт-Петербурге. Преподавал в Петербурге и Киеве, занимался литературной критикой и изучением славянской мифологии. После революции эмигрировал в Югославию, где работал профессором Белградского университета и преподавал в Скопье, продолжая научную и педагогическую деятельность до конца жизни.</a:t>
            </a:r>
          </a:p>
          <a:p>
            <a:pPr marL="0" indent="0">
              <a:buNone/>
            </a:pPr>
            <a:r>
              <a:rPr lang="ru-RU" b="1" dirty="0"/>
              <a:t>Место захоронения: </a:t>
            </a:r>
            <a:r>
              <a:rPr lang="ru-RU" dirty="0"/>
              <a:t>Новое кладбище, Белград, Сербия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122" name="Picture 2" descr="Аничков, Евгений Васильевич — Википедия">
            <a:extLst>
              <a:ext uri="{FF2B5EF4-FFF2-40B4-BE49-F238E27FC236}">
                <a16:creationId xmlns:a16="http://schemas.microsoft.com/office/drawing/2014/main" id="{D5027E54-E63C-6401-4E14-476361C50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614"/>
          <a:stretch>
            <a:fillRect/>
          </a:stretch>
        </p:blipFill>
        <p:spPr bwMode="auto">
          <a:xfrm>
            <a:off x="7659149" y="976160"/>
            <a:ext cx="4011643" cy="537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4515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5BA8A5-EE3C-3F63-8EA7-61BA2064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537960" cy="1463040"/>
          </a:xfrm>
        </p:spPr>
        <p:txBody>
          <a:bodyPr>
            <a:normAutofit/>
          </a:bodyPr>
          <a:lstStyle/>
          <a:p>
            <a:r>
              <a:rPr lang="ru-RU" dirty="0"/>
              <a:t>Причины эмиграции и проживание</a:t>
            </a:r>
          </a:p>
        </p:txBody>
      </p:sp>
      <p:sp>
        <p:nvSpPr>
          <p:cNvPr id="6153" name="Freeform: Shape 6152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E14DD4-4368-384A-5B8D-A36BF24E3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53796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Причины эмиграции: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Неприятие советской власти</a:t>
            </a:r>
          </a:p>
          <a:p>
            <a:pPr marL="0" indent="0">
              <a:buNone/>
            </a:pPr>
            <a:r>
              <a:rPr lang="ru-RU" dirty="0"/>
              <a:t>Желание продолжать научную и педагогическую работу</a:t>
            </a:r>
          </a:p>
          <a:p>
            <a:pPr marL="0" indent="0">
              <a:buNone/>
            </a:pPr>
            <a:r>
              <a:rPr lang="ru-RU" dirty="0"/>
              <a:t>Поиск безопасной среды для интеллигенции</a:t>
            </a:r>
          </a:p>
          <a:p>
            <a:pPr marL="0" indent="0">
              <a:buNone/>
            </a:pPr>
            <a:r>
              <a:rPr lang="ru-RU" b="1" dirty="0"/>
              <a:t>Страны проживания:</a:t>
            </a:r>
            <a:br>
              <a:rPr lang="ru-RU" dirty="0"/>
            </a:br>
            <a:r>
              <a:rPr lang="ru-RU" dirty="0"/>
              <a:t>Россия </a:t>
            </a:r>
          </a:p>
          <a:p>
            <a:pPr marL="0" indent="0">
              <a:buNone/>
            </a:pPr>
            <a:r>
              <a:rPr lang="ru-RU" dirty="0"/>
              <a:t>Югославия (Белград, Скопье)</a:t>
            </a:r>
          </a:p>
          <a:p>
            <a:endParaRPr lang="ru-RU" dirty="0"/>
          </a:p>
        </p:txBody>
      </p:sp>
      <p:pic>
        <p:nvPicPr>
          <p:cNvPr id="6146" name="Picture 2" descr="АНИЧКОВ Евгений Васильевич | Персона - Русские Балканы">
            <a:extLst>
              <a:ext uri="{FF2B5EF4-FFF2-40B4-BE49-F238E27FC236}">
                <a16:creationId xmlns:a16="http://schemas.microsoft.com/office/drawing/2014/main" id="{9518328E-2166-8C50-48B4-82B56AA05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" r="127" b="-4"/>
          <a:stretch>
            <a:fillRect/>
          </a:stretch>
        </p:blipFill>
        <p:spPr bwMode="auto">
          <a:xfrm>
            <a:off x="7659149" y="976160"/>
            <a:ext cx="4011643" cy="537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686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89" name="Rectangle 7188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59792E-B7BC-2C31-B10B-4A5B2B29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537960" cy="1463040"/>
          </a:xfrm>
        </p:spPr>
        <p:txBody>
          <a:bodyPr>
            <a:normAutofit/>
          </a:bodyPr>
          <a:lstStyle/>
          <a:p>
            <a:r>
              <a:rPr lang="ru-RU" dirty="0"/>
              <a:t>Заключение</a:t>
            </a:r>
          </a:p>
        </p:txBody>
      </p:sp>
      <p:sp>
        <p:nvSpPr>
          <p:cNvPr id="7191" name="Freeform: Shape 7190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06A4CC-970F-878E-D829-559B8C189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537960" cy="37673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/>
              <a:t>«Русская эмиграция первой волны»</a:t>
            </a:r>
            <a:endParaRPr lang="ru-RU"/>
          </a:p>
          <a:p>
            <a:pPr marL="0" indent="0">
              <a:buNone/>
            </a:pPr>
            <a:r>
              <a:rPr lang="ru-RU"/>
              <a:t>Эмиграция была вызвана политическими и социальными потрясениями после революции 1917 года. Интеллигенция, артисты, писатели и ученые искали свободу творчества и мысли</a:t>
            </a:r>
            <a:r>
              <a:rPr lang="en-US"/>
              <a:t>. </a:t>
            </a:r>
            <a:r>
              <a:rPr lang="ru-RU"/>
              <a:t>Эмигранты сохраняли русскую культуру за границей, создавая литературные, музыкальные и научные традиции.</a:t>
            </a:r>
            <a:r>
              <a:rPr lang="en-US"/>
              <a:t> </a:t>
            </a:r>
            <a:r>
              <a:rPr lang="ru-RU"/>
              <a:t>Их вклад продолжается и сегодня, а места захоронения в разных странах символизируют международное влияние русской культуры.</a:t>
            </a:r>
          </a:p>
          <a:p>
            <a:pPr marL="0" indent="0">
              <a:buNone/>
            </a:pPr>
            <a:endParaRPr lang="ru-RU"/>
          </a:p>
        </p:txBody>
      </p:sp>
      <p:pic>
        <p:nvPicPr>
          <p:cNvPr id="7174" name="Picture 6" descr="Белая эмиграция — Википедия">
            <a:extLst>
              <a:ext uri="{FF2B5EF4-FFF2-40B4-BE49-F238E27FC236}">
                <a16:creationId xmlns:a16="http://schemas.microsoft.com/office/drawing/2014/main" id="{3BBF525F-2097-AC5B-01BC-5602379D3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88" r="18291" b="2"/>
          <a:stretch>
            <a:fillRect/>
          </a:stretch>
        </p:blipFill>
        <p:spPr bwMode="auto">
          <a:xfrm>
            <a:off x="7659149" y="976160"/>
            <a:ext cx="4011643" cy="537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416162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693</Words>
  <Application>Microsoft Macintosh PowerPoint</Application>
  <PresentationFormat>Широкоэкранный</PresentationFormat>
  <Paragraphs>55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Bierstadt</vt:lpstr>
      <vt:lpstr>Google Sans</vt:lpstr>
      <vt:lpstr>GestaltVTI</vt:lpstr>
      <vt:lpstr>Русская эмиграция первой волны</vt:lpstr>
      <vt:lpstr>Иван Алексеевич Бунин Профессия: писатель, поэт, лауреат Нобелевской премии </vt:lpstr>
      <vt:lpstr>Причины эмиграции и проживание</vt:lpstr>
      <vt:lpstr>Фёдор Иванович Шаляпин Профессия: оперный певец (бас) </vt:lpstr>
      <vt:lpstr>Причины эмиграции и проживание</vt:lpstr>
      <vt:lpstr>Дмитрий Владимирович Философов Профессия: публицист, литературный критик, общественный деятель</vt:lpstr>
      <vt:lpstr>Причины эмиграции и проживание</vt:lpstr>
      <vt:lpstr>Евгений Васильевич Аничков Профессия: литературовед, фольклорист, педагог  </vt:lpstr>
      <vt:lpstr>Причины эмиграции и проживание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1</cp:revision>
  <dcterms:created xsi:type="dcterms:W3CDTF">2025-11-23T05:15:15Z</dcterms:created>
  <dcterms:modified xsi:type="dcterms:W3CDTF">2025-11-23T05:56:37Z</dcterms:modified>
</cp:coreProperties>
</file>